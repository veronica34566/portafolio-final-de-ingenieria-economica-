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66" r:id="rId2"/>
    <p:sldId id="256" r:id="rId3"/>
    <p:sldId id="257" r:id="rId4"/>
    <p:sldId id="264" r:id="rId5"/>
    <p:sldId id="258" r:id="rId6"/>
    <p:sldId id="259" r:id="rId7"/>
    <p:sldId id="260" r:id="rId8"/>
    <p:sldId id="261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77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0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4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6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4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6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3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2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6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7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2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8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8183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58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36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01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44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0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39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79AF8AE-CE95-9DE6-70FF-EAA4BBDB8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35" y="469053"/>
            <a:ext cx="6375929" cy="20423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A80C8F-1B69-14BA-B9B1-5EA5DAB6BD11}"/>
              </a:ext>
            </a:extLst>
          </p:cNvPr>
          <p:cNvSpPr txBox="1"/>
          <p:nvPr/>
        </p:nvSpPr>
        <p:spPr>
          <a:xfrm>
            <a:off x="2675467" y="2828835"/>
            <a:ext cx="347402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dirty="0"/>
              <a:t>      Integrantes :</a:t>
            </a:r>
            <a:br>
              <a:rPr lang="es-PA" dirty="0"/>
            </a:br>
            <a:br>
              <a:rPr lang="es-PA" dirty="0"/>
            </a:br>
            <a:r>
              <a:rPr lang="es-PA" dirty="0"/>
              <a:t>Verónica González </a:t>
            </a:r>
            <a:br>
              <a:rPr lang="es-PA" dirty="0"/>
            </a:br>
            <a:r>
              <a:rPr lang="es-PA" dirty="0"/>
              <a:t>Carlos Cantillano </a:t>
            </a:r>
            <a:br>
              <a:rPr lang="es-PA" dirty="0"/>
            </a:br>
            <a:r>
              <a:rPr lang="es-PA" dirty="0"/>
              <a:t>Vidal Sánchez</a:t>
            </a:r>
            <a:br>
              <a:rPr lang="es-PA" dirty="0"/>
            </a:br>
            <a:r>
              <a:rPr lang="es-PA" dirty="0"/>
              <a:t>David López</a:t>
            </a:r>
            <a:br>
              <a:rPr lang="es-PA" dirty="0"/>
            </a:br>
            <a:r>
              <a:rPr lang="es-PA" dirty="0"/>
              <a:t>Guillermo Berrocal</a:t>
            </a:r>
            <a:br>
              <a:rPr lang="es-PA" dirty="0"/>
            </a:br>
            <a:r>
              <a:rPr lang="es-PA" dirty="0"/>
              <a:t>Said </a:t>
            </a:r>
            <a:r>
              <a:rPr lang="es-PA" dirty="0" err="1"/>
              <a:t>Atencio</a:t>
            </a:r>
            <a:br>
              <a:rPr lang="es-PA" dirty="0"/>
            </a:br>
            <a:r>
              <a:rPr lang="es-PA" dirty="0"/>
              <a:t>Raúl Olaya</a:t>
            </a:r>
            <a:br>
              <a:rPr lang="es-PA" dirty="0"/>
            </a:br>
            <a:r>
              <a:rPr lang="es-PA" dirty="0"/>
              <a:t>Hillary </a:t>
            </a:r>
            <a:r>
              <a:rPr lang="es-PA" dirty="0" err="1"/>
              <a:t>Rodriguez</a:t>
            </a:r>
            <a:r>
              <a:rPr lang="es-PA" dirty="0"/>
              <a:t> (no trabajo )</a:t>
            </a:r>
            <a:br>
              <a:rPr lang="es-PA" dirty="0"/>
            </a:br>
            <a:r>
              <a:rPr lang="es-PA" dirty="0"/>
              <a:t>Abdul </a:t>
            </a:r>
            <a:r>
              <a:rPr lang="es-PA" dirty="0" err="1"/>
              <a:t>Rodriguez</a:t>
            </a:r>
            <a:r>
              <a:rPr lang="es-PA" dirty="0"/>
              <a:t> (</a:t>
            </a:r>
            <a:r>
              <a:rPr lang="es-PA"/>
              <a:t>no trabajo )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97431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del Valor Presente</a:t>
            </a:r>
          </a:p>
        </p:txBody>
      </p:sp>
      <p:pic>
        <p:nvPicPr>
          <p:cNvPr id="5122" name="Picture 2" descr="Concepto de Valor Presente">
            <a:extLst>
              <a:ext uri="{FF2B5EF4-FFF2-40B4-BE49-F238E27FC236}">
                <a16:creationId xmlns:a16="http://schemas.microsoft.com/office/drawing/2014/main" id="{60ABE40E-2D28-3233-E252-E8DF2B772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912" y="2101731"/>
            <a:ext cx="6379178" cy="380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677157" cy="1400530"/>
          </a:xfrm>
        </p:spPr>
        <p:txBody>
          <a:bodyPr/>
          <a:lstStyle/>
          <a:p>
            <a:r>
              <a:rPr dirty="0" err="1"/>
              <a:t>Concepto</a:t>
            </a:r>
            <a:r>
              <a:rPr dirty="0"/>
              <a:t> de Valor </a:t>
            </a:r>
            <a:r>
              <a:rPr dirty="0" err="1"/>
              <a:t>Presente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591734"/>
            <a:ext cx="6711654" cy="291828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El VP es </a:t>
            </a:r>
            <a:r>
              <a:rPr dirty="0" err="1"/>
              <a:t>el</a:t>
            </a:r>
            <a:r>
              <a:rPr dirty="0"/>
              <a:t> valor actual de </a:t>
            </a:r>
            <a:r>
              <a:rPr dirty="0" err="1"/>
              <a:t>flujos</a:t>
            </a:r>
            <a:r>
              <a:rPr dirty="0"/>
              <a:t> </a:t>
            </a:r>
            <a:r>
              <a:rPr dirty="0" err="1"/>
              <a:t>futuros</a:t>
            </a:r>
            <a:r>
              <a:rPr dirty="0"/>
              <a:t> </a:t>
            </a:r>
            <a:r>
              <a:rPr dirty="0" err="1"/>
              <a:t>descontados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tasa</a:t>
            </a:r>
            <a:r>
              <a:rPr dirty="0"/>
              <a:t>.</a:t>
            </a:r>
            <a:br>
              <a:rPr lang="es-PA" dirty="0"/>
            </a:br>
            <a:br>
              <a:rPr lang="es-PA" dirty="0"/>
            </a:br>
            <a:r>
              <a:rPr lang="es-MX" dirty="0"/>
              <a:t>La comparación de valor presente (VP) es una técnica financiera para evaluar la rentabilidad de diferentes opciones al traer todos sus flujos de efectivo futuros a su valor equivalente en el presente. El proyecto o inversión con el valor presente o valor actual neto (VAN) más alto es el más conveniente porque se considera que generará mayor valor para la empresa. </a:t>
            </a:r>
            <a:endParaRPr dirty="0"/>
          </a:p>
        </p:txBody>
      </p:sp>
      <p:pic>
        <p:nvPicPr>
          <p:cNvPr id="7170" name="Picture 2" descr="MÉTODOS DE MEDICIÓN – Valor presente de los costos futuros – Pasaporte al  Conocimiento">
            <a:extLst>
              <a:ext uri="{FF2B5EF4-FFF2-40B4-BE49-F238E27FC236}">
                <a16:creationId xmlns:a16="http://schemas.microsoft.com/office/drawing/2014/main" id="{9098043C-4B62-1C27-E82C-9FA1490FD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0" y="4380521"/>
            <a:ext cx="5046133" cy="202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F84A1-23EC-F034-DE36-403FEAC5F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659290" cy="1400530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Pasos clave para comparar el valor presente</a:t>
            </a:r>
            <a:br>
              <a:rPr lang="es-MX" b="1" dirty="0"/>
            </a:br>
            <a:br>
              <a:rPr lang="es-MX" b="1" dirty="0"/>
            </a:br>
            <a:r>
              <a:rPr lang="es-MX" sz="2000" b="1" dirty="0">
                <a:latin typeface="Century Gothic" panose="020B0502020202020204" pitchFamily="34" charset="0"/>
              </a:rPr>
              <a:t>Calcular el valor presente de cada proyecto: </a:t>
            </a:r>
            <a:br>
              <a:rPr lang="es-MX" sz="2000" b="1" dirty="0">
                <a:latin typeface="Century Gothic" panose="020B0502020202020204" pitchFamily="34" charset="0"/>
              </a:rPr>
            </a:br>
            <a:br>
              <a:rPr lang="es-MX" sz="2000" b="1" dirty="0">
                <a:latin typeface="Century Gothic" panose="020B0502020202020204" pitchFamily="34" charset="0"/>
              </a:rPr>
            </a:br>
            <a:r>
              <a:rPr lang="es-MX" sz="1800" dirty="0">
                <a:latin typeface="Century Gothic" panose="020B0502020202020204" pitchFamily="34" charset="0"/>
              </a:rPr>
              <a:t>Utiliza la fórmula del valor presente para descontar los flujos de efectivo futuros al presente, teniendo en cuenta la tasa de descuento. La fórmula básica es: </a:t>
            </a:r>
            <a:br>
              <a:rPr lang="es-MX" sz="1800" dirty="0">
                <a:latin typeface="Century Gothic" panose="020B0502020202020204" pitchFamily="34" charset="0"/>
              </a:rPr>
            </a:br>
            <a:br>
              <a:rPr lang="es-MX" sz="1800" dirty="0">
                <a:latin typeface="Century Gothic" panose="020B0502020202020204" pitchFamily="34" charset="0"/>
              </a:rPr>
            </a:br>
            <a:br>
              <a:rPr lang="es-MX" sz="1800" dirty="0">
                <a:latin typeface="Century Gothic" panose="020B0502020202020204" pitchFamily="34" charset="0"/>
              </a:rPr>
            </a:br>
            <a:br>
              <a:rPr lang="es-MX" sz="1800" dirty="0">
                <a:latin typeface="Century Gothic" panose="020B0502020202020204" pitchFamily="34" charset="0"/>
              </a:rPr>
            </a:br>
            <a:br>
              <a:rPr lang="es-MX" sz="1800" dirty="0">
                <a:latin typeface="Century Gothic" panose="020B0502020202020204" pitchFamily="34" charset="0"/>
              </a:rPr>
            </a:br>
            <a:r>
              <a:rPr lang="es-MX" sz="1800" dirty="0">
                <a:latin typeface="Century Gothic" panose="020B0502020202020204" pitchFamily="34" charset="0"/>
              </a:rPr>
              <a:t>Donde VF es el valor futuro </a:t>
            </a:r>
            <a:r>
              <a:rPr lang="es-MX" sz="1800" b="1" dirty="0">
                <a:latin typeface="Century Gothic" panose="020B0502020202020204" pitchFamily="34" charset="0"/>
              </a:rPr>
              <a:t>, (i) </a:t>
            </a:r>
            <a:r>
              <a:rPr lang="es-MX" sz="1800" dirty="0">
                <a:latin typeface="Century Gothic" panose="020B0502020202020204" pitchFamily="34" charset="0"/>
              </a:rPr>
              <a:t>es la tasa de descuento y </a:t>
            </a:r>
            <a:r>
              <a:rPr lang="es-MX" sz="1800" b="1" dirty="0">
                <a:latin typeface="Century Gothic" panose="020B0502020202020204" pitchFamily="34" charset="0"/>
              </a:rPr>
              <a:t>(N)</a:t>
            </a:r>
            <a:r>
              <a:rPr lang="es-MX" sz="1800" dirty="0">
                <a:latin typeface="Century Gothic" panose="020B0502020202020204" pitchFamily="34" charset="0"/>
              </a:rPr>
              <a:t> es el numero de periodos </a:t>
            </a:r>
            <a:br>
              <a:rPr lang="es-MX" sz="1800" dirty="0">
                <a:latin typeface="Century Gothic" panose="020B0502020202020204" pitchFamily="34" charset="0"/>
              </a:rPr>
            </a:br>
            <a:br>
              <a:rPr lang="es-MX" sz="1800" dirty="0">
                <a:latin typeface="Century Gothic" panose="020B0502020202020204" pitchFamily="34" charset="0"/>
              </a:rPr>
            </a:br>
            <a:r>
              <a:rPr lang="es-MX" sz="1800" dirty="0">
                <a:latin typeface="Century Gothic" panose="020B0502020202020204" pitchFamily="34" charset="0"/>
              </a:rPr>
              <a:t>Para un proyecto, esto puede implicar restar el costo inicial (una salida de efectivo hoy) de las entradas de efectivo futuras descontadas.</a:t>
            </a:r>
            <a:endParaRPr lang="es-PA" sz="1800" dirty="0">
              <a:latin typeface="Century Gothic" panose="020B0502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8B799D-0AA4-D372-E71D-E49FB4C83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542" y="3429000"/>
            <a:ext cx="1745813" cy="745066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C1BF4B79-D2AA-E3AF-8C00-0E909198D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A" altLang="es-P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s-PA" altLang="es-P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D740ABE3-74D1-07B3-0E17-D9346A698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150812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>
            <a:extLst>
              <a:ext uri="{FF2B5EF4-FFF2-40B4-BE49-F238E27FC236}">
                <a16:creationId xmlns:a16="http://schemas.microsoft.com/office/drawing/2014/main" id="{3ED359C5-77AD-AA52-B71D-B26467FCF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55FCF1D9-7042-F3F7-8D83-6DB149366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6858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964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comparar VP?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267" y="1853249"/>
            <a:ext cx="6845087" cy="4395158"/>
          </a:xfrm>
        </p:spPr>
        <p:txBody>
          <a:bodyPr/>
          <a:lstStyle/>
          <a:p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elegir</a:t>
            </a:r>
            <a:r>
              <a:rPr dirty="0"/>
              <a:t> la </a:t>
            </a:r>
            <a:r>
              <a:rPr dirty="0" err="1"/>
              <a:t>opción</a:t>
            </a:r>
            <a:r>
              <a:rPr dirty="0"/>
              <a:t> mas </a:t>
            </a:r>
            <a:r>
              <a:rPr dirty="0" err="1"/>
              <a:t>conve</a:t>
            </a:r>
            <a:r>
              <a:rPr lang="es-PA" dirty="0" err="1"/>
              <a:t>niente</a:t>
            </a:r>
            <a:r>
              <a:rPr dirty="0"/>
              <a:t>.</a:t>
            </a:r>
          </a:p>
          <a:p>
            <a:r>
              <a:rPr dirty="0" err="1"/>
              <a:t>Convierte</a:t>
            </a:r>
            <a:r>
              <a:rPr dirty="0"/>
              <a:t> dinero </a:t>
            </a:r>
            <a:r>
              <a:rPr dirty="0" err="1"/>
              <a:t>futuro</a:t>
            </a:r>
            <a:r>
              <a:rPr dirty="0"/>
              <a:t> a dinero de hoy.</a:t>
            </a:r>
            <a:endParaRPr lang="es-PA" dirty="0"/>
          </a:p>
          <a:p>
            <a:r>
              <a:rPr lang="es-PA" dirty="0"/>
              <a:t>Se selecciona el proyecto con el mayor VPN </a:t>
            </a:r>
          </a:p>
          <a:p>
            <a:r>
              <a:rPr lang="es-PA" dirty="0"/>
              <a:t>Un VPN positivo indica que le proyecto es       rentable (cubre la inversión inicial y genera Ganancia ).</a:t>
            </a:r>
          </a:p>
          <a:p>
            <a:r>
              <a:rPr lang="es-PA" dirty="0"/>
              <a:t>Un VPN  negativo indica  que es proyecto  no es  </a:t>
            </a:r>
          </a:p>
          <a:p>
            <a:pPr marL="0" indent="0">
              <a:buNone/>
            </a:pPr>
            <a:r>
              <a:rPr lang="es-PA" dirty="0"/>
              <a:t>     Rentable </a:t>
            </a:r>
            <a:br>
              <a:rPr lang="es-PA" dirty="0"/>
            </a:br>
            <a:br>
              <a:rPr lang="es-PA" dirty="0"/>
            </a:br>
            <a:br>
              <a:rPr lang="es-PA" dirty="0"/>
            </a:br>
            <a:endParaRPr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21B6149-07F6-556E-2BCA-2E47EC18A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576"/>
            <a:ext cx="65" cy="9171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A" altLang="es-PA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PA" altLang="es-PA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s-PA" altLang="es-P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Procedimiento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flujos</a:t>
            </a:r>
            <a:endParaRPr dirty="0"/>
          </a:p>
          <a:p>
            <a:r>
              <a:rPr dirty="0"/>
              <a:t>2.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tasa</a:t>
            </a:r>
            <a:endParaRPr dirty="0"/>
          </a:p>
          <a:p>
            <a:r>
              <a:rPr dirty="0"/>
              <a:t>3. </a:t>
            </a:r>
            <a:r>
              <a:rPr dirty="0" err="1"/>
              <a:t>Calcular</a:t>
            </a:r>
            <a:r>
              <a:rPr dirty="0"/>
              <a:t> VP</a:t>
            </a:r>
          </a:p>
          <a:p>
            <a:r>
              <a:rPr dirty="0"/>
              <a:t>4. Sumar</a:t>
            </a:r>
          </a:p>
          <a:p>
            <a:r>
              <a:rPr dirty="0"/>
              <a:t>5. </a:t>
            </a:r>
            <a:r>
              <a:rPr dirty="0" err="1"/>
              <a:t>Comparar</a:t>
            </a:r>
            <a:endParaRPr dirty="0"/>
          </a:p>
        </p:txBody>
      </p:sp>
      <p:pic>
        <p:nvPicPr>
          <p:cNvPr id="6146" name="Picture 2" descr="Valor presente neto: qué es, cómo se calcula y ejemplos">
            <a:extLst>
              <a:ext uri="{FF2B5EF4-FFF2-40B4-BE49-F238E27FC236}">
                <a16:creationId xmlns:a16="http://schemas.microsoft.com/office/drawing/2014/main" id="{F2E1C9D3-C886-032F-92E1-58D3DDB9D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509" y="1663171"/>
            <a:ext cx="299085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E5BCD8-E7B4-624D-33F0-A115F9928DCB}"/>
              </a:ext>
            </a:extLst>
          </p:cNvPr>
          <p:cNvSpPr txBox="1"/>
          <p:nvPr/>
        </p:nvSpPr>
        <p:spPr>
          <a:xfrm>
            <a:off x="634999" y="1518440"/>
            <a:ext cx="70553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Vas a recibir </a:t>
            </a:r>
            <a:r>
              <a:rPr lang="es-MX" b="1" dirty="0"/>
              <a:t>$10,000</a:t>
            </a:r>
            <a:r>
              <a:rPr lang="es-MX" dirty="0"/>
              <a:t> dentro de </a:t>
            </a:r>
            <a:r>
              <a:rPr lang="es-MX" b="1" dirty="0"/>
              <a:t>3 años</a:t>
            </a:r>
            <a:r>
              <a:rPr lang="es-MX" dirty="0"/>
              <a:t> y la tasa de descuento es </a:t>
            </a:r>
            <a:r>
              <a:rPr lang="es-MX" b="1" dirty="0"/>
              <a:t>8% anual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¿Cuál es el </a:t>
            </a:r>
            <a:r>
              <a:rPr lang="es-MX" i="1" dirty="0"/>
              <a:t>valor presente</a:t>
            </a:r>
            <a:r>
              <a:rPr lang="es-MX" dirty="0"/>
              <a:t> de ese dinero hoy?</a:t>
            </a:r>
            <a:endParaRPr lang="es-PA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31C58E4-BE3E-A642-9E65-A09ECF8CD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80" y="2554859"/>
            <a:ext cx="1486107" cy="95263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4025203-1BE8-10D1-B772-A62DF12AD27A}"/>
              </a:ext>
            </a:extLst>
          </p:cNvPr>
          <p:cNvSpPr txBox="1"/>
          <p:nvPr/>
        </p:nvSpPr>
        <p:spPr>
          <a:xfrm>
            <a:off x="899480" y="3818003"/>
            <a:ext cx="4792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/>
              <a:t>FV :Valor Futuro </a:t>
            </a:r>
            <a:br>
              <a:rPr lang="es-PA" dirty="0"/>
            </a:br>
            <a:r>
              <a:rPr lang="es-PA" dirty="0"/>
              <a:t>R: Tasa de descuento </a:t>
            </a:r>
            <a:br>
              <a:rPr lang="es-PA" dirty="0"/>
            </a:br>
            <a:r>
              <a:rPr lang="es-PA" dirty="0"/>
              <a:t>N : Numero de periodos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BD2FB4-AA7E-1A7F-FFDE-25894813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80" y="4903473"/>
            <a:ext cx="2286319" cy="132416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C3E67A9-D0B6-E59C-F669-D1AA3243801B}"/>
              </a:ext>
            </a:extLst>
          </p:cNvPr>
          <p:cNvSpPr txBox="1"/>
          <p:nvPr/>
        </p:nvSpPr>
        <p:spPr>
          <a:xfrm>
            <a:off x="4572000" y="5339560"/>
            <a:ext cx="3672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/>
              <a:t>Resultado : El VP de </a:t>
            </a:r>
            <a:r>
              <a:rPr lang="es-PA" b="1" dirty="0"/>
              <a:t>$10,000 </a:t>
            </a:r>
            <a:r>
              <a:rPr lang="es-PA" dirty="0"/>
              <a:t>que recibirás en 3 años al 8$ es $</a:t>
            </a:r>
            <a:r>
              <a:rPr lang="es-PA" b="1" dirty="0"/>
              <a:t>7,943.28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6A786B-BE7C-3586-0586-8B8F6EC3837A}"/>
              </a:ext>
            </a:extLst>
          </p:cNvPr>
          <p:cNvSpPr txBox="1"/>
          <p:nvPr/>
        </p:nvSpPr>
        <p:spPr>
          <a:xfrm>
            <a:off x="1041399" y="1518440"/>
            <a:ext cx="70553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Una empresa te pagará </a:t>
            </a:r>
            <a:r>
              <a:rPr lang="es-MX" b="1" dirty="0"/>
              <a:t>$25,000</a:t>
            </a:r>
            <a:r>
              <a:rPr lang="es-MX" dirty="0"/>
              <a:t> dentro de </a:t>
            </a:r>
            <a:r>
              <a:rPr lang="es-MX" b="1" dirty="0"/>
              <a:t>5 años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La tasa de descuento es </a:t>
            </a:r>
            <a:r>
              <a:rPr lang="es-MX" b="1" dirty="0"/>
              <a:t>10% anual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¿Cuál es el </a:t>
            </a:r>
            <a:r>
              <a:rPr lang="es-MX" i="1" dirty="0"/>
              <a:t>valor presente</a:t>
            </a:r>
            <a:r>
              <a:rPr lang="es-MX" dirty="0"/>
              <a:t> de ese pago?</a:t>
            </a:r>
            <a:endParaRPr lang="es-PA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B629BF-B236-CD73-2975-0DEF27B67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95" y="2834250"/>
            <a:ext cx="1438476" cy="7621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EE20EFE-103C-FD41-52FB-5DE46BEF3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739" y="2798353"/>
            <a:ext cx="1829055" cy="176237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B83D83A-3516-0CD6-154D-C135E8DC3B87}"/>
              </a:ext>
            </a:extLst>
          </p:cNvPr>
          <p:cNvSpPr txBox="1"/>
          <p:nvPr/>
        </p:nvSpPr>
        <p:spPr>
          <a:xfrm flipH="1">
            <a:off x="1215926" y="5198533"/>
            <a:ext cx="525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/>
              <a:t>Resultado:  El Valor presente  de </a:t>
            </a:r>
            <a:r>
              <a:rPr lang="es-PA" b="1" dirty="0"/>
              <a:t>$25,000 </a:t>
            </a:r>
            <a:r>
              <a:rPr lang="es-PA" dirty="0"/>
              <a:t>que </a:t>
            </a:r>
            <a:r>
              <a:rPr lang="es-PA" dirty="0" err="1"/>
              <a:t>recibiras</a:t>
            </a:r>
            <a:r>
              <a:rPr lang="es-PA" dirty="0"/>
              <a:t> en  5 años  al 10% es </a:t>
            </a:r>
            <a:r>
              <a:rPr lang="es-PA" b="1" dirty="0"/>
              <a:t>:$15,518.69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CF39F-81C8-D282-5DE4-FD902AC1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Consideraciones adicionales</a:t>
            </a:r>
            <a:br>
              <a:rPr lang="es-MX" dirty="0"/>
            </a:br>
            <a:endParaRPr lang="es-P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DB4ED2-D28E-A60E-D358-2489F3B4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7744"/>
            <a:ext cx="65" cy="45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A" altLang="es-PA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D18BC7-424F-EF1A-79C4-0A8452FEACB7}"/>
              </a:ext>
            </a:extLst>
          </p:cNvPr>
          <p:cNvSpPr txBox="1"/>
          <p:nvPr/>
        </p:nvSpPr>
        <p:spPr>
          <a:xfrm>
            <a:off x="842434" y="2305965"/>
            <a:ext cx="745913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Alinear los horizontes de tiempo: Cuando se comparan alternativas con vidas útiles diferentes, es necesario evaluarlas durante un período de tiempo común, a menudo utilizando el mínimo común múltiplo de sus vidas útiles.</a:t>
            </a:r>
          </a:p>
          <a:p>
            <a:endParaRPr lang="es-MX" dirty="0"/>
          </a:p>
          <a:p>
            <a:r>
              <a:rPr lang="es-MX" dirty="0"/>
              <a:t>Tasa de descuento: La tasa de descuento es crucial, ya que refleja la oportunidad de inversión, el riesgo y la inflación.</a:t>
            </a:r>
          </a:p>
          <a:p>
            <a:endParaRPr lang="es-MX" dirty="0"/>
          </a:p>
          <a:p>
            <a:r>
              <a:rPr lang="es-MX" dirty="0"/>
              <a:t>Valor presente frente a valor futuro: Mientras que el VP trae los flujos de efectivo futuros al presente, el valor futuro (VF) proyecta una cantidad actual de dinero hacia el futuro. 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756494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8B2ED1-F0DE-6300-E00E-45A2FF027B3E}"/>
              </a:ext>
            </a:extLst>
          </p:cNvPr>
          <p:cNvSpPr txBox="1"/>
          <p:nvPr/>
        </p:nvSpPr>
        <p:spPr>
          <a:xfrm>
            <a:off x="304800" y="1853248"/>
            <a:ext cx="7823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valor presente permite saber cuánto vale hoy un monto que se recibirá en el futuro.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Una tasa de descuento más alta reduce el valor presente; una más baja lo aumenta.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VP facilita comparar opciones y elegir la más rentable.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 una herramienta clave para evaluar inversiones y tomar decisiones financieras.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72</TotalTime>
  <Words>597</Words>
  <Application>Microsoft Office PowerPoint</Application>
  <PresentationFormat>Presentación en pantalla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Google Sans</vt:lpstr>
      <vt:lpstr>Wingdings 3</vt:lpstr>
      <vt:lpstr>Ion</vt:lpstr>
      <vt:lpstr>Presentación de PowerPoint</vt:lpstr>
      <vt:lpstr>Comparación del Valor Presente</vt:lpstr>
      <vt:lpstr>Concepto de Valor Presente</vt:lpstr>
      <vt:lpstr>Pasos clave para comparar el valor presente  Calcular el valor presente de cada proyecto:   Utiliza la fórmula del valor presente para descontar los flujos de efectivo futuros al presente, teniendo en cuenta la tasa de descuento. La fórmula básica es:      Donde VF es el valor futuro , (i) es la tasa de descuento y (N) es el numero de periodos   Para un proyecto, esto puede implicar restar el costo inicial (una salida de efectivo hoy) de las entradas de efectivo futuras descontadas.</vt:lpstr>
      <vt:lpstr>¿Por qué comparar VP?</vt:lpstr>
      <vt:lpstr>Procedimiento</vt:lpstr>
      <vt:lpstr>Ejemplo 1</vt:lpstr>
      <vt:lpstr>Ejemplo 2</vt:lpstr>
      <vt:lpstr>Consideraciones adicionales 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Susana De Gracia</dc:creator>
  <cp:keywords/>
  <dc:description>generated using python-pptx</dc:description>
  <cp:lastModifiedBy>Susana De Gracia</cp:lastModifiedBy>
  <cp:revision>10</cp:revision>
  <dcterms:created xsi:type="dcterms:W3CDTF">2013-01-27T09:14:16Z</dcterms:created>
  <dcterms:modified xsi:type="dcterms:W3CDTF">2025-11-25T03:58:45Z</dcterms:modified>
  <cp:category/>
</cp:coreProperties>
</file>